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>
        <c:manualLayout>
          <c:layoutTarget val="inner"/>
          <c:xMode val="edge"/>
          <c:yMode val="edge"/>
          <c:x val="0.07"/>
          <c:y val="0.03"/>
          <c:w val="0.76"/>
          <c:h val="0.8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 °C</c:v>
                </c:pt>
              </c:strCache>
            </c:strRef>
          </c:tx>
          <c:spPr>
            <a:ln w="28575">
              <a:solidFill>
                <a:srgbClr val="0072B2"/>
              </a:solidFill>
            </a:ln>
          </c:spPr>
          <c:marker>
            <c:symbol val="circle"/>
            <c:size val="7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5.098</c:v>
                </c:pt>
                <c:pt idx="2">
                  <c:v>10.556</c:v>
                </c:pt>
                <c:pt idx="3">
                  <c:v>16.798</c:v>
                </c:pt>
                <c:pt idx="4">
                  <c:v>24.631</c:v>
                </c:pt>
                <c:pt idx="5">
                  <c:v>33.864</c:v>
                </c:pt>
                <c:pt idx="6">
                  <c:v>46.242</c:v>
                </c:pt>
                <c:pt idx="7">
                  <c:v>61.946</c:v>
                </c:pt>
                <c:pt idx="8">
                  <c:v>77.821</c:v>
                </c:pt>
                <c:pt idx="9">
                  <c:v>98.747</c:v>
                </c:pt>
                <c:pt idx="10">
                  <c:v>125.918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Sheet1!$B$16</c:f>
              <c:strCache>
                <c:ptCount val="1"/>
                <c:pt idx="0">
                  <c:v>50 °C</c:v>
                </c:pt>
              </c:strCache>
            </c:strRef>
          </c:tx>
          <c:spPr>
            <a:ln w="28575">
              <a:solidFill>
                <a:srgbClr val="D55E00"/>
              </a:solidFill>
            </a:ln>
          </c:spPr>
          <c:marker>
            <c:symbol val="square"/>
            <c:size val="7"/>
            <c:spPr>
              <a:solidFill>
                <a:srgbClr val="D55E00"/>
              </a:solidFill>
              <a:ln>
                <a:solidFill>
                  <a:srgbClr val="D55E00"/>
                </a:solidFill>
              </a:ln>
            </c:spPr>
          </c:marker>
          <c:xVal>
            <c:numRef>
              <c:f>Sheet1!$A$17:$A$29</c:f>
              <c:numCache>
                <c:formatCode>General</c:formatCode>
                <c:ptCount val="13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</c:numCache>
            </c:numRef>
          </c:xVal>
          <c:yVal>
            <c:numRef>
              <c:f>Sheet1!$B$17:$B$29</c:f>
              <c:numCache>
                <c:formatCode>General</c:formatCode>
                <c:ptCount val="13"/>
                <c:pt idx="0">
                  <c:v>0.0</c:v>
                </c:pt>
                <c:pt idx="1">
                  <c:v>12.605</c:v>
                </c:pt>
                <c:pt idx="2">
                  <c:v>25.919</c:v>
                </c:pt>
                <c:pt idx="3">
                  <c:v>42.2</c:v>
                </c:pt>
                <c:pt idx="4">
                  <c:v>62.14</c:v>
                </c:pt>
                <c:pt idx="5">
                  <c:v>83.524</c:v>
                </c:pt>
                <c:pt idx="6">
                  <c:v>113.78</c:v>
                </c:pt>
                <c:pt idx="7">
                  <c:v>146.291</c:v>
                </c:pt>
                <c:pt idx="8">
                  <c:v>190.655</c:v>
                </c:pt>
                <c:pt idx="9">
                  <c:v>240.345</c:v>
                </c:pt>
                <c:pt idx="10">
                  <c:v>308.881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75 °C</c:v>
                </c:pt>
              </c:strCache>
            </c:strRef>
          </c:tx>
          <c:spPr>
            <a:ln w="28575">
              <a:solidFill>
                <a:srgbClr val="009E73"/>
              </a:solidFill>
            </a:ln>
          </c:spPr>
          <c:marker>
            <c:symbol val="triangle"/>
            <c:size val="7"/>
            <c:spPr>
              <a:solidFill>
                <a:srgbClr val="009E73"/>
              </a:solidFill>
              <a:ln>
                <a:solidFill>
                  <a:srgbClr val="009E73"/>
                </a:solidFill>
              </a:ln>
            </c:spPr>
          </c:marker>
          <c:xVal>
            <c:numRef>
              <c:f>Sheet1!$A$32:$A$44</c:f>
              <c:numCache>
                <c:formatCode>General</c:formatCode>
                <c:ptCount val="13"/>
                <c:pt idx="0">
                  <c:v>0.0</c:v>
                </c:pt>
                <c:pt idx="1">
                  <c:v>0.4</c:v>
                </c:pt>
                <c:pt idx="2">
                  <c:v>0.8</c:v>
                </c:pt>
                <c:pt idx="3">
                  <c:v>1.2</c:v>
                </c:pt>
                <c:pt idx="4">
                  <c:v>1.6</c:v>
                </c:pt>
                <c:pt idx="5">
                  <c:v>2.0</c:v>
                </c:pt>
                <c:pt idx="6">
                  <c:v>2.4</c:v>
                </c:pt>
                <c:pt idx="7">
                  <c:v>2.8</c:v>
                </c:pt>
                <c:pt idx="8">
                  <c:v>3.2</c:v>
                </c:pt>
                <c:pt idx="9">
                  <c:v>3.6</c:v>
                </c:pt>
                <c:pt idx="10">
                  <c:v>4.0</c:v>
                </c:pt>
                <c:pt idx="11">
                  <c:v>4.4</c:v>
                </c:pt>
                <c:pt idx="12">
                  <c:v>4.8</c:v>
                </c:pt>
              </c:numCache>
            </c:numRef>
          </c:xVal>
          <c:yVal>
            <c:numRef>
              <c:f>Sheet1!$B$32:$B$44</c:f>
              <c:numCache>
                <c:formatCode>General</c:formatCode>
                <c:ptCount val="13"/>
                <c:pt idx="0">
                  <c:v>0.0</c:v>
                </c:pt>
                <c:pt idx="1">
                  <c:v>21.886</c:v>
                </c:pt>
                <c:pt idx="2">
                  <c:v>44.943</c:v>
                </c:pt>
                <c:pt idx="3">
                  <c:v>70.168</c:v>
                </c:pt>
                <c:pt idx="4">
                  <c:v>95.862</c:v>
                </c:pt>
                <c:pt idx="5">
                  <c:v>132.774</c:v>
                </c:pt>
                <c:pt idx="6">
                  <c:v>174.179</c:v>
                </c:pt>
                <c:pt idx="7">
                  <c:v>222.596</c:v>
                </c:pt>
                <c:pt idx="8">
                  <c:v>272.435</c:v>
                </c:pt>
                <c:pt idx="9">
                  <c:v>342.925</c:v>
                </c:pt>
                <c:pt idx="10">
                  <c:v>416.946</c:v>
                </c:pt>
                <c:pt idx="11">
                  <c:v>507.122</c:v>
                </c:pt>
                <c:pt idx="12">
                  <c:v>627.044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600" b="1"/>
                </a:pPr>
                <a:r>
                  <a:t>Voltage (V)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9595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600" b="1"/>
                </a:pPr>
                <a:r>
                  <a:t>Current (mA)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9595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</c:valAx>
    </c:plotArea>
    <c:legend>
      <c:legendPos/>
      <c:layout>
        <c:manualLayout>
          <c:xMode val="edge"/>
          <c:yMode val="edge"/>
          <c:x val="0.87"/>
          <c:y val="0.1"/>
          <c:w val="0.11"/>
          <c:h val="0.255"/>
        </c:manualLayout>
      </c:layout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1F1F"/>
                </a:solidFill>
              </a:defRPr>
            </a:pPr>
            <a:r>
              <a:t>Current vs. Voltage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1277295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86514" y="1261872"/>
            <a:ext cx="17479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Temperature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